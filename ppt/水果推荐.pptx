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5E2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B5E20"/>
                </a:solidFill>
                <a:latin typeface="Arial"/>
              </a:rPr>
              <a:t>维生素C含量排行榜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维生素C (mg/100g)</c:v>
                </c:pt>
              </c:strCache>
            </c:strRef>
          </c:tx>
          <c:spPr>
            <a:solidFill>
              <a:srgbClr val="2D8B4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猕猴桃</c:v>
                  </c:pt>
                  <c:pt idx="1">
                    <c:v>橙子</c:v>
                  </c:pt>
                  <c:pt idx="2">
                    <c:v>草莓</c:v>
                  </c:pt>
                  <c:pt idx="3">
                    <c:v>芒果</c:v>
                  </c:pt>
                  <c:pt idx="4">
                    <c:v>苹果</c:v>
                  </c:pt>
                  <c:pt idx="5">
                    <c:v>西瓜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92</c:v>
                </c:pt>
                <c:pt idx="1">
                  <c:v>53</c:v>
                </c:pt>
                <c:pt idx="2">
                  <c:v>59</c:v>
                </c:pt>
                <c:pt idx="3">
                  <c:v>36</c:v>
                </c:pt>
                <c:pt idx="4">
                  <c:v>4</c:v>
                </c:pt>
                <c:pt idx="5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575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575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5E2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B5E20"/>
                </a:solidFill>
                <a:latin typeface="Arial"/>
              </a:rPr>
              <a:t>常见水果膳食纤维占比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膳食纤维占比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D8B4E"/>
              </a:solidFill>
              <a:effectLst/>
            </c:spPr>
          </c:dPt>
          <c:dPt>
            <c:idx val="1"/>
            <c:bubble3D val="0"/>
            <c:spPr>
              <a:solidFill>
                <a:srgbClr val="FF8F00"/>
              </a:solidFill>
              <a:effectLst/>
            </c:spPr>
          </c:dPt>
          <c:dPt>
            <c:idx val="2"/>
            <c:bubble3D val="0"/>
            <c:spPr>
              <a:solidFill>
                <a:srgbClr val="E53935"/>
              </a:solidFill>
              <a:effectLst/>
            </c:spPr>
          </c:dPt>
          <c:dPt>
            <c:idx val="3"/>
            <c:bubble3D val="0"/>
            <c:spPr>
              <a:solidFill>
                <a:srgbClr val="F9A825"/>
              </a:solidFill>
              <a:effectLst/>
            </c:spPr>
          </c:dPt>
          <c:dPt>
            <c:idx val="4"/>
            <c:bubble3D val="0"/>
            <c:spPr>
              <a:solidFill>
                <a:srgbClr val="7B1FA2"/>
              </a:solidFill>
              <a:effectLst/>
            </c:spPr>
          </c:dPt>
          <c:dPt>
            <c:idx val="5"/>
            <c:bubble3D val="0"/>
            <c:spPr>
              <a:solidFill>
                <a:srgbClr val="BDBDB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333333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333333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333333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333333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333333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333333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苹果</c:v>
                </c:pt>
                <c:pt idx="1">
                  <c:v>梨</c:v>
                </c:pt>
                <c:pt idx="2">
                  <c:v>橙子</c:v>
                </c:pt>
                <c:pt idx="3">
                  <c:v>草莓</c:v>
                </c:pt>
                <c:pt idx="4">
                  <c:v>香蕉</c:v>
                </c:pt>
                <c:pt idx="5">
                  <c:v>其他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25</c:v>
                </c:pt>
                <c:pt idx="1">
                  <c:v>20</c:v>
                </c:pt>
                <c:pt idx="2">
                  <c:v>18</c:v>
                </c:pt>
                <c:pt idx="3">
                  <c:v>15</c:v>
                </c:pt>
                <c:pt idx="4">
                  <c:v>12</c:v>
                </c:pt>
                <c:pt idx="5">
                  <c:v>10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D8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D8B4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🍎 水果推荐指南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D8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天然美味 · 健康生活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3017520"/>
            <a:ext cx="2743200" cy="36576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新鲜水果 每日必备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D8B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目录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18872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8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1887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四季水果推荐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</a:rPr>
              <a:t>春季 / 夏季 / 秋季 / 冬季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8229600" cy="59436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92024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8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19202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水果营养价值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</a:rPr>
              <a:t>维生素 / 矿物质 / 膳食纤维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8229600" cy="59436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265176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8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26517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水果挑选技巧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</a:rPr>
              <a:t>看 / 闻 / 摸 / 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8229600" cy="59436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338328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8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371600" y="338328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水果食用建议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</a:rPr>
              <a:t>最佳时间 / 搭配禁忌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411480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8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371600" y="41148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趣味水果知识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</a:rPr>
              <a:t>冷知识 / 趣味数据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D8B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🌸 春季水果推荐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188720"/>
            <a:ext cx="19659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1965960" cy="73152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4630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🍓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65760" y="22860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草莓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" y="283464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富含维生素C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抗氧化佳品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14600" y="1188720"/>
            <a:ext cx="19659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1188720"/>
            <a:ext cx="1965960" cy="73152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12" name="Text 10"/>
          <p:cNvSpPr/>
          <p:nvPr/>
        </p:nvSpPr>
        <p:spPr>
          <a:xfrm>
            <a:off x="2514600" y="14630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🍍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2514600" y="22860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菠萝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651760" y="283464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助消化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含菠萝蛋白酶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1188720"/>
            <a:ext cx="19659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188720"/>
            <a:ext cx="1965960" cy="7315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14630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🍒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4663440" y="22860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樱桃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800600" y="283464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补铁补血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花青素丰富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12280" y="1188720"/>
            <a:ext cx="19659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12280" y="1188720"/>
            <a:ext cx="1965960" cy="73152"/>
          </a:xfrm>
          <a:prstGeom prst="rect">
            <a:avLst/>
          </a:prstGeom>
          <a:solidFill>
            <a:srgbClr val="4A148C"/>
          </a:solidFill>
          <a:ln/>
        </p:spPr>
      </p:sp>
      <p:sp>
        <p:nvSpPr>
          <p:cNvPr id="22" name="Text 20"/>
          <p:cNvSpPr/>
          <p:nvPr/>
        </p:nvSpPr>
        <p:spPr>
          <a:xfrm>
            <a:off x="6812280" y="14630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🫐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6812280" y="22860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桑葚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949440" y="283464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滋阴补血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护眼明目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☀️ 夏季水果推荐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188720"/>
            <a:ext cx="19659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1965960" cy="731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4630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🍉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65760" y="22860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西瓜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" y="283464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解暑降温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补水利尿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14600" y="1188720"/>
            <a:ext cx="19659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1188720"/>
            <a:ext cx="1965960" cy="73152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12" name="Text 10"/>
          <p:cNvSpPr/>
          <p:nvPr/>
        </p:nvSpPr>
        <p:spPr>
          <a:xfrm>
            <a:off x="2514600" y="14630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🥭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2514600" y="22860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芒果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651760" y="283464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维生素A之王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护眼美容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1188720"/>
            <a:ext cx="19659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188720"/>
            <a:ext cx="1965960" cy="7315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14630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🍈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4663440" y="22860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荔枝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800600" y="283464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补脑益智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含葡萄糖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12280" y="1188720"/>
            <a:ext cx="19659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12280" y="1188720"/>
            <a:ext cx="1965960" cy="73152"/>
          </a:xfrm>
          <a:prstGeom prst="rect">
            <a:avLst/>
          </a:prstGeom>
          <a:solidFill>
            <a:srgbClr val="F48FB1"/>
          </a:solidFill>
          <a:ln/>
        </p:spPr>
      </p:sp>
      <p:sp>
        <p:nvSpPr>
          <p:cNvPr id="22" name="Text 20"/>
          <p:cNvSpPr/>
          <p:nvPr/>
        </p:nvSpPr>
        <p:spPr>
          <a:xfrm>
            <a:off x="6812280" y="14630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🍑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6812280" y="22860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水蜜桃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949440" y="283464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养阴生津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补气润肺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E9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F3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🍂 秋季水果推荐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188720"/>
            <a:ext cx="19659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1965960" cy="73152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4630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🍅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65760" y="22860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F3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柿子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" y="283464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润肺化痰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含碘丰富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14600" y="1188720"/>
            <a:ext cx="19659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1188720"/>
            <a:ext cx="1965960" cy="73152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2" name="Text 10"/>
          <p:cNvSpPr/>
          <p:nvPr/>
        </p:nvSpPr>
        <p:spPr>
          <a:xfrm>
            <a:off x="2514600" y="14630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🍑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2514600" y="22860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F3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石榴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651760" y="283464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抗氧化明星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延缓衰老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1188720"/>
            <a:ext cx="19659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188720"/>
            <a:ext cx="1965960" cy="7315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14630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🍐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4663440" y="22860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F3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梨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800600" y="283464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清热润肺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止咳化痰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12280" y="1188720"/>
            <a:ext cx="19659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12280" y="1188720"/>
            <a:ext cx="1965960" cy="73152"/>
          </a:xfrm>
          <a:prstGeom prst="rect">
            <a:avLst/>
          </a:prstGeom>
          <a:solidFill>
            <a:srgbClr val="558B2F"/>
          </a:solidFill>
          <a:ln/>
        </p:spPr>
      </p:sp>
      <p:sp>
        <p:nvSpPr>
          <p:cNvPr id="22" name="Text 20"/>
          <p:cNvSpPr/>
          <p:nvPr/>
        </p:nvSpPr>
        <p:spPr>
          <a:xfrm>
            <a:off x="6812280" y="14630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🥝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6812280" y="22860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F3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猕猴桃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949440" y="283464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维C之王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美白养颜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❄️ 冬季水果推荐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188720"/>
            <a:ext cx="19659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1965960" cy="73152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4630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🍊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65760" y="22860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橙子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" y="283464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维C丰富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增强免疫力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14600" y="1188720"/>
            <a:ext cx="19659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1188720"/>
            <a:ext cx="1965960" cy="7315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2" name="Text 10"/>
          <p:cNvSpPr/>
          <p:nvPr/>
        </p:nvSpPr>
        <p:spPr>
          <a:xfrm>
            <a:off x="2514600" y="14630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🍈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2514600" y="22860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柚子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651760" y="283464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清热降火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降血脂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1188720"/>
            <a:ext cx="19659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188720"/>
            <a:ext cx="1965960" cy="73152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14630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🍎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4663440" y="22860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苹果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800600" y="283464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全科医生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膳食纤维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12280" y="1188720"/>
            <a:ext cx="19659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12280" y="1188720"/>
            <a:ext cx="1965960" cy="73152"/>
          </a:xfrm>
          <a:prstGeom prst="rect">
            <a:avLst/>
          </a:prstGeom>
          <a:solidFill>
            <a:srgbClr val="558B2F"/>
          </a:solidFill>
          <a:ln/>
        </p:spPr>
      </p:sp>
      <p:sp>
        <p:nvSpPr>
          <p:cNvPr id="22" name="Text 20"/>
          <p:cNvSpPr/>
          <p:nvPr/>
        </p:nvSpPr>
        <p:spPr>
          <a:xfrm>
            <a:off x="6812280" y="14630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🎋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6812280" y="22860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甘蔗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949440" y="283464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清热生津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补充糖分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D8B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🥗 水果营养价值对比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FF8F00"/>
          </a:solidFill>
          <a:ln/>
        </p:spPr>
      </p:sp>
      <p:graphicFrame>
        <p:nvGraphicFramePr>
          <p:cNvPr id="5" name="Chart 0" descr=""/>
          <p:cNvGraphicFramePr/>
          <p:nvPr/>
        </p:nvGraphicFramePr>
        <p:xfrm>
          <a:off x="274320" y="1097280"/>
          <a:ext cx="41148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754880" y="1097280"/>
          <a:ext cx="41148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D8B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水果挑选技巧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188720"/>
            <a:ext cx="20116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2011680" cy="73152"/>
          </a:xfrm>
          <a:prstGeom prst="rect">
            <a:avLst/>
          </a:prstGeom>
          <a:solidFill>
            <a:srgbClr val="2D8B4E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371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👀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74320" y="2011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看外观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246888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57575"/>
                </a:solidFill>
              </a:rPr>
              <a:t>色泽自然鲜艳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57575"/>
                </a:solidFill>
              </a:rPr>
              <a:t>果形端正饱满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57575"/>
                </a:solidFill>
              </a:rPr>
              <a:t>无霉斑和虫蛀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57575"/>
                </a:solidFill>
              </a:rPr>
              <a:t>果柄新鲜翠绿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68880" y="1188720"/>
            <a:ext cx="20116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188720"/>
            <a:ext cx="2011680" cy="73152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1371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👃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468880" y="2011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闻气味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560320" y="246888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57575"/>
                </a:solidFill>
              </a:rPr>
              <a:t>果香浓郁自然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57575"/>
                </a:solidFill>
              </a:rPr>
              <a:t>无酒精发酵味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57575"/>
                </a:solidFill>
              </a:rPr>
              <a:t>无化学药剂味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57575"/>
                </a:solidFill>
              </a:rPr>
              <a:t>成熟度越高越香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1188720"/>
            <a:ext cx="20116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188720"/>
            <a:ext cx="2011680" cy="73152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1371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✋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663440" y="2011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摸手感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54880" y="246888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57575"/>
                </a:solidFill>
              </a:rPr>
              <a:t>软硬适中不塌软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57575"/>
                </a:solidFill>
              </a:rPr>
              <a:t>表皮光滑有弹性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57575"/>
                </a:solidFill>
              </a:rPr>
              <a:t>重量沉实水分足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57575"/>
                </a:solidFill>
              </a:rPr>
              <a:t>轻压不凹陷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0" y="1188720"/>
            <a:ext cx="20116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0" y="1188720"/>
            <a:ext cx="2011680" cy="7315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1371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⚖️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858000" y="2011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掂重量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949440" y="246888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57575"/>
                </a:solidFill>
              </a:rPr>
              <a:t>同等大小选重的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57575"/>
                </a:solidFill>
              </a:rPr>
              <a:t>水分越多越新鲜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57575"/>
                </a:solidFill>
              </a:rPr>
              <a:t>沉甸甸说明饱满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57575"/>
                </a:solidFill>
              </a:rPr>
              <a:t>轻飘飘可能干瘪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 水果食用建议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18872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801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最佳食用时间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</a:rPr>
              <a:t>早晨 7-8点</a:t>
            </a:r>
            <a:pPr indent="0" marL="0">
              <a:buNone/>
            </a:pPr>
            <a:r>
              <a:rPr lang="en-US" sz="1200" dirty="0">
                <a:solidFill>
                  <a:srgbClr val="FF8F00"/>
                </a:solidFill>
              </a:rPr>
              <a:t>  苹果、香蕉</a:t>
            </a:r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</a:rPr>
              <a:t>  补充能量，促进代谢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</a:rPr>
              <a:t>上午 10点</a:t>
            </a:r>
            <a:pPr indent="0" marL="0">
              <a:buNone/>
            </a:pPr>
            <a:r>
              <a:rPr lang="en-US" sz="1200" dirty="0">
                <a:solidFill>
                  <a:srgbClr val="FF8F00"/>
                </a:solidFill>
              </a:rPr>
              <a:t>  猕猴桃、橙子</a:t>
            </a:r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</a:rPr>
              <a:t>  补充维C，提高免疫力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</a:rPr>
              <a:t>午餐后 1小时</a:t>
            </a:r>
            <a:pPr indent="0" marL="0">
              <a:buNone/>
            </a:pPr>
            <a:r>
              <a:rPr lang="en-US" sz="1200" dirty="0">
                <a:solidFill>
                  <a:srgbClr val="FF8F00"/>
                </a:solidFill>
              </a:rPr>
              <a:t>  菠萝、木瓜</a:t>
            </a:r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</a:rPr>
              <a:t>  助消化，分解蛋白质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474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</a:rPr>
              <a:t>下午 3-4点</a:t>
            </a:r>
            <a:pPr indent="0" marL="0">
              <a:buNone/>
            </a:pPr>
            <a:r>
              <a:rPr lang="en-US" sz="1200" dirty="0">
                <a:solidFill>
                  <a:srgbClr val="FF8F00"/>
                </a:solidFill>
              </a:rPr>
              <a:t>  蓝莓、草莓</a:t>
            </a:r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</a:rPr>
              <a:t>  抗疲劳，保护视力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40233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</a:rPr>
              <a:t>晚餐前 30分钟</a:t>
            </a:r>
            <a:pPr indent="0" marL="0">
              <a:buNone/>
            </a:pPr>
            <a:r>
              <a:rPr lang="en-US" sz="1200" dirty="0">
                <a:solidFill>
                  <a:srgbClr val="FF8F00"/>
                </a:solidFill>
              </a:rPr>
              <a:t>  柚子、梨</a:t>
            </a:r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</a:rPr>
              <a:t>  增加饱腹感，控制体重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12801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注意事项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46320" y="182880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57575"/>
                </a:solidFill>
              </a:rPr>
              <a:t>空腹不宜吃柿子、山楂 — 易形成胃结石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57575"/>
                </a:solidFill>
              </a:rPr>
              <a:t>糖尿病患者慎食高糖水果（荔枝、芒果）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57575"/>
                </a:solidFill>
              </a:rPr>
              <a:t>过敏体质注意芒果、菠萝等易过敏水果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57575"/>
                </a:solidFill>
              </a:rPr>
              <a:t>水果不能替代蔬菜，两者需均衡摄入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57575"/>
                </a:solidFill>
              </a:rPr>
              <a:t>每日推荐摄入量：200-350克新鲜水果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57575"/>
                </a:solidFill>
              </a:rPr>
              <a:t>水果切开后尽快食用，避免营养流失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E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🤩 趣味水果知识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77724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🍓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280160" y="118872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1FA2"/>
                </a:solidFill>
              </a:rPr>
              <a:t>草莓是假果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757575"/>
                </a:solidFill>
              </a:rPr>
              <a:t>草莓表面的小点才是真正的果实，我们吃的红色部分是花托膨大形成的。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103120"/>
            <a:ext cx="54864" cy="77724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03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🍌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1280160" y="210312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1FA2"/>
                </a:solidFill>
              </a:rPr>
              <a:t>香蕉有辐射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757575"/>
                </a:solidFill>
              </a:rPr>
              <a:t>香蕉富含钾-40，是一种天然放射性同位素，但剂量极小，对人体无害。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017520"/>
            <a:ext cx="54864" cy="77724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017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🍉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1280160" y="301752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1FA2"/>
                </a:solidFill>
              </a:rPr>
              <a:t>西瓜92%是水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757575"/>
                </a:solidFill>
              </a:rPr>
              <a:t>西瓜含水量高达92%，是夏季补充水分的最佳水果之一。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931920"/>
            <a:ext cx="54864" cy="77724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931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🥝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1280160" y="393192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1FA2"/>
                </a:solidFill>
              </a:rPr>
              <a:t>猕猴桃原名中国醋栗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757575"/>
                </a:solidFill>
              </a:rPr>
              <a:t>猕猴桃原产于中国，1904年才被引入新西兰，最初被称为"中国醋栗"。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D8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D8B4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🌟 总结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0" y="1463040"/>
            <a:ext cx="1828800" cy="36576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28800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8B4E"/>
                </a:solidFill>
              </a:rPr>
              <a:t>应季而食，健康随行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🍎 每天一水果，医生远离我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🥝 多样化搭配，营养更均衡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🍊 新鲜是关键，挑选有技巧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8F00"/>
                </a:solidFill>
              </a:rPr>
              <a:t>祝您生活甜蜜，水果相伴每一天！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水果推荐指南</dc:title>
  <dc:subject>PptxGenJS Presentation</dc:subject>
  <dc:creator>水果推荐</dc:creator>
  <cp:lastModifiedBy>水果推荐</cp:lastModifiedBy>
  <cp:revision>1</cp:revision>
  <dcterms:created xsi:type="dcterms:W3CDTF">2026-05-27T14:25:33Z</dcterms:created>
  <dcterms:modified xsi:type="dcterms:W3CDTF">2026-05-27T14:25:33Z</dcterms:modified>
</cp:coreProperties>
</file>