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3657600" cy="3657600"/>
          </a:xfrm>
          <a:prstGeom prst="ellipse">
            <a:avLst/>
          </a:prstGeom>
          <a:solidFill>
            <a:srgbClr val="3B82F6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2743200"/>
            <a:ext cx="4572000" cy="4572000"/>
          </a:xfrm>
          <a:prstGeom prst="ellipse">
            <a:avLst/>
          </a:prstGeom>
          <a:solidFill>
            <a:srgbClr val="8B5CF6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772400" y="-457200"/>
            <a:ext cx="2286000" cy="2286000"/>
          </a:xfrm>
          <a:prstGeom prst="ellipse">
            <a:avLst/>
          </a:prstGeom>
          <a:solidFill>
            <a:srgbClr val="14B8A6">
              <a:alpha val="2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09728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DeepAgents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731520" y="228600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下一代AI智能体平台 · 自主 · 协作 · 进化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301752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释放AI智能体的无限潜能，构建自主决策与协作的智能系统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31520" y="4114800"/>
            <a:ext cx="228600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42976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/ 概述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什么是 DeepAgents？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371600" cy="457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4592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DeepAgents 是一个新一代AI智能体（Agent）平台，致力于构建能够自主感知环境、制定决策、执行任务并持续学习的智能系统。平台融合了大型语言模型（LLM）、多智能体协作、工具调用和记忆管理等核心能力，为企业和开发者提供强大的AI自动化解决方案。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3017520"/>
            <a:ext cx="256032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3017520"/>
            <a:ext cx="256032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3200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🧠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731520" y="35661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自主决策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" y="397764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基于LLM的推理引擎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自主分析问题并制定方案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383280" y="3017520"/>
            <a:ext cx="256032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383280" y="3017520"/>
            <a:ext cx="2560320" cy="5486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3" name="Text 11"/>
          <p:cNvSpPr/>
          <p:nvPr/>
        </p:nvSpPr>
        <p:spPr>
          <a:xfrm>
            <a:off x="3566160" y="3200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🤝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3566160" y="35661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多智能体协作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566160" y="397764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多个Agent分工协作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高效完成复杂任务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217920" y="3017520"/>
            <a:ext cx="256032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17920" y="3017520"/>
            <a:ext cx="2560320" cy="54864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0" y="3200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📈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6400800" y="35661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持续学习进化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400800" y="397764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通过反馈与记忆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不断提升任务执行能力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 架构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核心架构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371600" cy="457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737360"/>
            <a:ext cx="1828800" cy="5029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73736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感知层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560320" y="173736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环境感知 · 信息采集 · 状态监控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463040" y="2240280"/>
            <a:ext cx="0" cy="137160"/>
          </a:xfrm>
          <a:prstGeom prst="line">
            <a:avLst/>
          </a:prstGeom>
          <a:noFill/>
          <a:ln w="19050">
            <a:solidFill>
              <a:srgbClr val="3B82F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2377440"/>
            <a:ext cx="1828800" cy="50292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3774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推理层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560320" y="237744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LLM驱动 · 思维链 · 规划决策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463040" y="2880360"/>
            <a:ext cx="0" cy="137160"/>
          </a:xfrm>
          <a:prstGeom prst="line">
            <a:avLst/>
          </a:prstGeom>
          <a:noFill/>
          <a:ln w="19050">
            <a:solidFill>
              <a:srgbClr val="14B8A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3017520"/>
            <a:ext cx="1828800" cy="50292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30175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执行层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560320" y="301752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工具调用 · API集成 · 代码执行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463040" y="3520440"/>
            <a:ext cx="0" cy="137160"/>
          </a:xfrm>
          <a:prstGeom prst="line">
            <a:avLst/>
          </a:prstGeom>
          <a:noFill/>
          <a:ln w="19050">
            <a:solidFill>
              <a:srgbClr val="F9731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657600"/>
            <a:ext cx="1828800" cy="50292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365760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记忆层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560320" y="365760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短期记忆 · 长期记忆 · 经验回放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1463040" y="4160520"/>
            <a:ext cx="0" cy="137160"/>
          </a:xfrm>
          <a:prstGeom prst="line">
            <a:avLst/>
          </a:prstGeom>
          <a:noFill/>
          <a:ln w="19050">
            <a:solidFill>
              <a:srgbClr val="8B5CF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48640" y="4297680"/>
            <a:ext cx="1828800" cy="502920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429768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协作层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2560320" y="429768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Agent间通信 · 任务分配 · 结果聚合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217920" y="1737360"/>
            <a:ext cx="2560320" cy="3017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400800" y="18288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技术栈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400800" y="2286000"/>
            <a:ext cx="21945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GPT-4 / Claude / 文心</a:t>
            </a:r>
            <a:endParaRPr lang="en-US" sz="1100" dirty="0"/>
          </a:p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LangChain / LlamaIndex</a:t>
            </a:r>
            <a:endParaRPr lang="en-US" sz="1100" dirty="0"/>
          </a:p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向量数据库 (Pinecone)</a:t>
            </a:r>
            <a:endParaRPr lang="en-US" sz="1100" dirty="0"/>
          </a:p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 沙箱执行</a:t>
            </a:r>
            <a:endParaRPr lang="en-US" sz="1100" dirty="0"/>
          </a:p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WebSocket 实时通信</a:t>
            </a:r>
            <a:endParaRPr lang="en-US" sz="1100" dirty="0"/>
          </a:p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gRPC 服务间调用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/ 能力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关键能力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371600" cy="457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737360"/>
            <a:ext cx="256032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18288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🧠 智能推理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224028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基于思维链(CoT)的深度推理能力，支持多步规划和逻辑推导，可处理复杂问题分解。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383280" y="1737360"/>
            <a:ext cx="256032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566160" y="18288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🔧 工具调用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566160" y="224028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丰富的工具生态系统，支持自定义API、数据库查询、代码执行、文件操作等多种工具。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217920" y="1737360"/>
            <a:ext cx="256032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00800" y="18288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💬 自然交互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00800" y="224028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支持多轮对话、上下文理解、情感感知，提供类人的自然语言交互体验。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48640" y="3429000"/>
            <a:ext cx="256032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31520" y="35204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🔗 工作流编排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31520" y="393192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可视化工作流设计器，支持条件分支、循环、并行执行等复杂流程编排。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383280" y="3429000"/>
            <a:ext cx="256032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566160" y="35204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🛡️ 安全可控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566160" y="393192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多层次安全机制，包括权限控制、内容审核、沙箱隔离、操作审计等。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217920" y="3429000"/>
            <a:ext cx="256032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400800" y="35204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监控分析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400800" y="393192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实时监控Agent行为，提供详细的日志、指标和可视化分析面板。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/ 场景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应用场景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371600" cy="457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737360"/>
            <a:ext cx="256032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377440" y="1828800"/>
            <a:ext cx="640080" cy="2743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7" name="Text 5"/>
          <p:cNvSpPr/>
          <p:nvPr/>
        </p:nvSpPr>
        <p:spPr>
          <a:xfrm>
            <a:off x="2377440" y="18288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服务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31520" y="18745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智能客服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31520" y="233172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7×24小时自动化客户服务，处理咨询、投诉、退换货等流程，支持多语言、多渠道接入。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383280" y="1737360"/>
            <a:ext cx="256032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212080" y="1828800"/>
            <a:ext cx="640080" cy="27432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2" name="Text 10"/>
          <p:cNvSpPr/>
          <p:nvPr/>
        </p:nvSpPr>
        <p:spPr>
          <a:xfrm>
            <a:off x="5212080" y="18288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分析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566160" y="18745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数据分析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566160" y="233172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自动采集、清洗、分析数据，生成可视化报告，发现业务洞察，辅助决策。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217920" y="1737360"/>
            <a:ext cx="256032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046720" y="1828800"/>
            <a:ext cx="640080" cy="27432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7" name="Text 15"/>
          <p:cNvSpPr/>
          <p:nvPr/>
        </p:nvSpPr>
        <p:spPr>
          <a:xfrm>
            <a:off x="8046720" y="18288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开发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400800" y="18745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代码开发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400800" y="233172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AI编程助手，自动生成代码、审查代码质量、编写测试用例、生成文档。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48640" y="3429000"/>
            <a:ext cx="256032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377440" y="3520440"/>
            <a:ext cx="640080" cy="27432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2" name="Text 20"/>
          <p:cNvSpPr/>
          <p:nvPr/>
        </p:nvSpPr>
        <p:spPr>
          <a:xfrm>
            <a:off x="2377440" y="35204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自动化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731520" y="35661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流程自动化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731520" y="402336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自动化处理审批、报销、排班等企业流程，对接OA、ERP、CRM等系统。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383280" y="3429000"/>
            <a:ext cx="256032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212080" y="3520440"/>
            <a:ext cx="640080" cy="274320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27" name="Text 25"/>
          <p:cNvSpPr/>
          <p:nvPr/>
        </p:nvSpPr>
        <p:spPr>
          <a:xfrm>
            <a:off x="5212080" y="35204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创作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566160" y="35661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内容创作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3566160" y="402336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自动生成文章、营销文案、社交媒体内容、视频脚本等创意内容。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217920" y="3429000"/>
            <a:ext cx="256032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8046720" y="3520440"/>
            <a:ext cx="640080" cy="27432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32" name="Text 30"/>
          <p:cNvSpPr/>
          <p:nvPr/>
        </p:nvSpPr>
        <p:spPr>
          <a:xfrm>
            <a:off x="8046720" y="35204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运维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400800" y="35661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智能运维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6400800" y="402336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自动监控系统状态、排查故障、执行修复操作，实现AIOps智能运维。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/ 优势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技术优势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371600" cy="457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737360"/>
            <a:ext cx="1828800" cy="868680"/>
          </a:xfrm>
          <a:prstGeom prst="rect">
            <a:avLst/>
          </a:prstGeom>
          <a:solidFill>
            <a:srgbClr val="3B82F6">
              <a:alpha val="15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7830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99.9%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48640" y="21945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系统可用性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651760" y="1737360"/>
            <a:ext cx="1828800" cy="868680"/>
          </a:xfrm>
          <a:prstGeom prst="rect">
            <a:avLst/>
          </a:prstGeom>
          <a:solidFill>
            <a:srgbClr val="14B8A6">
              <a:alpha val="15000"/>
            </a:srgbClr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651760" y="17830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&lt;100ms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2651760" y="21945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平均响应时间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2834640"/>
            <a:ext cx="1828800" cy="868680"/>
          </a:xfrm>
          <a:prstGeom prst="rect">
            <a:avLst/>
          </a:prstGeom>
          <a:solidFill>
            <a:srgbClr val="F97316">
              <a:alpha val="15000"/>
            </a:srgbClr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8803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10K+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548640" y="32918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并发任务支持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651760" y="2834640"/>
            <a:ext cx="1828800" cy="868680"/>
          </a:xfrm>
          <a:prstGeom prst="rect">
            <a:avLst/>
          </a:prstGeom>
          <a:solidFill>
            <a:srgbClr val="8B5CF6">
              <a:alpha val="1500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651760" y="28803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50+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2651760" y="32918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内置工具集成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029200" y="1737360"/>
            <a:ext cx="3840480" cy="30175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8" name="Text 16"/>
          <p:cNvSpPr/>
          <p:nvPr/>
        </p:nvSpPr>
        <p:spPr>
          <a:xfrm>
            <a:off x="5303520" y="19202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核心优势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303520" y="2377440"/>
            <a:ext cx="32918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80000"/>
              </a:lnSpc>
              <a:buSzPct val="100000"/>
              <a:buChar char="•"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模型无关：支持多种LLM灵活切换</a:t>
            </a:r>
            <a:endParaRPr lang="en-US" sz="1200" dirty="0"/>
          </a:p>
          <a:p>
            <a:pPr marL="342900" indent="-342900">
              <a:lnSpc>
                <a:spcPct val="180000"/>
              </a:lnSpc>
              <a:buSzPct val="100000"/>
              <a:buChar char="•"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可扩展：插件化架构，轻松扩展功能</a:t>
            </a:r>
            <a:endParaRPr lang="en-US" sz="1200" dirty="0"/>
          </a:p>
          <a:p>
            <a:pPr marL="342900" indent="-342900">
              <a:lnSpc>
                <a:spcPct val="180000"/>
              </a:lnSpc>
              <a:buSzPct val="100000"/>
              <a:buChar char="•"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企业级：高可用、高性能、高安全</a:t>
            </a:r>
            <a:endParaRPr lang="en-US" sz="1200" dirty="0"/>
          </a:p>
          <a:p>
            <a:pPr marL="342900" indent="-342900">
              <a:lnSpc>
                <a:spcPct val="180000"/>
              </a:lnSpc>
              <a:buSzPct val="100000"/>
              <a:buChar char="•"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易集成：丰富的API和SDK支持</a:t>
            </a:r>
            <a:endParaRPr lang="en-US" sz="1200" dirty="0"/>
          </a:p>
          <a:p>
            <a:pPr marL="342900" indent="-342900">
              <a:lnSpc>
                <a:spcPct val="180000"/>
              </a:lnSpc>
              <a:buSzPct val="100000"/>
              <a:buChar char="•"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可观测：全链路追踪和监控</a:t>
            </a:r>
            <a:endParaRPr lang="en-US" sz="1200" dirty="0"/>
          </a:p>
          <a:p>
            <a:pPr marL="342900" indent="-342900">
              <a:lnSpc>
                <a:spcPct val="180000"/>
              </a:lnSpc>
              <a:buSzPct val="100000"/>
              <a:buChar char="•"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成本优化：智能调度降低推理成本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/ 路线图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发展路线图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371600" cy="457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2651760"/>
            <a:ext cx="7680960" cy="36576"/>
          </a:xfrm>
          <a:prstGeom prst="rect">
            <a:avLst/>
          </a:prstGeom>
          <a:solidFill>
            <a:srgbClr val="94A3B8">
              <a:alpha val="5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280160" y="2377440"/>
            <a:ext cx="457200" cy="45720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8288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 2025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31520" y="3017520"/>
            <a:ext cx="173736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31520" y="3017520"/>
            <a:ext cx="1737360" cy="457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320040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基础平台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68680" y="356616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核心框架发布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LLM集成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基础工具链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91840" y="2377440"/>
            <a:ext cx="457200" cy="457200"/>
          </a:xfrm>
          <a:prstGeom prst="ellipse">
            <a:avLst/>
          </a:prstGeom>
          <a:solidFill>
            <a:srgbClr val="94A3B8"/>
          </a:solidFill>
          <a:ln/>
        </p:spPr>
      </p:sp>
      <p:sp>
        <p:nvSpPr>
          <p:cNvPr id="13" name="Text 11"/>
          <p:cNvSpPr/>
          <p:nvPr/>
        </p:nvSpPr>
        <p:spPr>
          <a:xfrm>
            <a:off x="2743200" y="18288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 2025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0" y="3017520"/>
            <a:ext cx="173736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0" y="3017520"/>
            <a:ext cx="1737360" cy="4572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6" name="Text 14"/>
          <p:cNvSpPr/>
          <p:nvPr/>
        </p:nvSpPr>
        <p:spPr>
          <a:xfrm>
            <a:off x="2880360" y="320040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协作增强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880360" y="356616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多Agent协作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工作流引擎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可视化界面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303520" y="2377440"/>
            <a:ext cx="457200" cy="457200"/>
          </a:xfrm>
          <a:prstGeom prst="ellipse">
            <a:avLst/>
          </a:prstGeom>
          <a:solidFill>
            <a:srgbClr val="94A3B8"/>
          </a:solidFill>
          <a:ln/>
        </p:spPr>
      </p:sp>
      <p:sp>
        <p:nvSpPr>
          <p:cNvPr id="19" name="Text 17"/>
          <p:cNvSpPr/>
          <p:nvPr/>
        </p:nvSpPr>
        <p:spPr>
          <a:xfrm>
            <a:off x="4754880" y="18288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 2025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54880" y="3017520"/>
            <a:ext cx="173736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54880" y="3017520"/>
            <a:ext cx="1737360" cy="4572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22" name="Text 20"/>
          <p:cNvSpPr/>
          <p:nvPr/>
        </p:nvSpPr>
        <p:spPr>
          <a:xfrm>
            <a:off x="4892040" y="320040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生态建设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892040" y="356616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插件市场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社区版发布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企业级功能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315200" y="2377440"/>
            <a:ext cx="457200" cy="457200"/>
          </a:xfrm>
          <a:prstGeom prst="ellipse">
            <a:avLst/>
          </a:prstGeom>
          <a:solidFill>
            <a:srgbClr val="94A3B8"/>
          </a:solidFill>
          <a:ln/>
        </p:spPr>
      </p:sp>
      <p:sp>
        <p:nvSpPr>
          <p:cNvPr id="25" name="Text 23"/>
          <p:cNvSpPr/>
          <p:nvPr/>
        </p:nvSpPr>
        <p:spPr>
          <a:xfrm>
            <a:off x="6766560" y="18288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Q4 2025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766560" y="3017520"/>
            <a:ext cx="173736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766560" y="3017520"/>
            <a:ext cx="1737360" cy="4572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8" name="Text 26"/>
          <p:cNvSpPr/>
          <p:nvPr/>
        </p:nvSpPr>
        <p:spPr>
          <a:xfrm>
            <a:off x="6903720" y="320040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全面进化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903720" y="356616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自主学习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跨模态理解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边缘部署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2743200"/>
            <a:ext cx="3657600" cy="3657600"/>
          </a:xfrm>
          <a:prstGeom prst="ellipse">
            <a:avLst/>
          </a:prstGeom>
          <a:solidFill>
            <a:srgbClr val="3B82F6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315200" y="-914400"/>
            <a:ext cx="3200400" cy="3200400"/>
          </a:xfrm>
          <a:prstGeom prst="ellipse">
            <a:avLst/>
          </a:prstGeom>
          <a:solidFill>
            <a:srgbClr val="8B5CF6">
              <a:alpha val="1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91440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开启智能体新时代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31520" y="192024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DeepAgents — 让每个企业都拥有自己的AI智能体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31520" y="2743200"/>
            <a:ext cx="1828800" cy="457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30175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联系我们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33832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官网：www.deepagents.ai  |  邮箱：contact@deepagents.ai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37490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GitHub：github.com/deepagents  |  文档：docs.deepagents.ai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943600" y="320040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2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DeepAgents - 下一代AI智能体平台</dc:title>
  <dc:subject>DeepAgents 介绍</dc:subject>
  <dc:creator>DeepAgents</dc:creator>
  <cp:lastModifiedBy>DeepAgents</cp:lastModifiedBy>
  <cp:revision>1</cp:revision>
  <dcterms:created xsi:type="dcterms:W3CDTF">2026-05-27T12:37:39Z</dcterms:created>
  <dcterms:modified xsi:type="dcterms:W3CDTF">2026-05-27T12:37:39Z</dcterms:modified>
</cp:coreProperties>
</file>